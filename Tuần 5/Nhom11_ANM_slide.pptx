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4" r:id="rId11"/>
    <p:sldId id="267" r:id="rId12"/>
    <p:sldId id="270" r:id="rId13"/>
    <p:sldId id="276" r:id="rId14"/>
    <p:sldId id="273" r:id="rId15"/>
    <p:sldId id="274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365760"/>
            <a:ext cx="2560320" cy="25603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3D"/>
                </a:solidFill>
              </a:rPr>
              <a:t>AN NINH MẠNG – NHÓM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CHUẨN DES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VÀ ỨNG DỤNG TRONG MÃ HÓA DỮ LIỆU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5720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E0EF"/>
                </a:solidFill>
              </a:rPr>
              <a:t>Ngôn ngữ: C# &amp; Java    |    Học phần: An ninh mạng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Bùi Nam Khánh  ·  Nguyễn Tiến Phương  ·  Nguyễn Ngọc Toàn  ·  Dương Thị Trà  ·  Trần Thị Trinh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GVHD: TS. Phạm Văn Hiệp  |  Đại học Công nghiệp Hà Nội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521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521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124712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Tổng quan An ninh mạng &amp; Lý do chọn đề tài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1965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8EE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892808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Thuật toán DES – Cấu trúc tổng quát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6883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6883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660904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Hàm F – Trái tim của 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8EE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4564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456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3429000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Cơ chế sinh khóa con (Key Schedule)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2394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42245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4197096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Phân tích bài toán &amp; Thiết kế chương trình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8EE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1521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1521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1124712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Cài đặt C# – Giao diện &amp; Demo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07568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21762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2148840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Cài đặt Java – Kiến trúc &amp; Demo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09981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8EE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28032" y="3200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76672" y="3172968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Kiểm thử &amp; Kết quả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412394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D4DC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28032" y="42245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76672" y="4197096"/>
            <a:ext cx="34015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Kết luận &amp; Định hướng phát triển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TỔNG QUAN AN NINH MẠNG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$10.5 nghìn tỷ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8745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Thiệt hại tội phạm mạng toàn cầu 2025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00B4D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46.15%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14600" y="1664208"/>
            <a:ext cx="18745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Tổ chức VN bị tấn công năm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659,000+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1664208"/>
            <a:ext cx="18745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Sự cố mạng tại Việt Nam 2024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00B4D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6.5 triệu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12280" y="1664208"/>
            <a:ext cx="18745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Tài khoản bị đánh cắp Q3/2025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Tam giác bảo mật CIA TRIAD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4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25880" y="2907792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3931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C – Confidentiality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968496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Tính bí mật: Thông tin không bị lộ cho bên không được phép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4FF"/>
          </a:solidFill>
          <a:ln w="12700">
            <a:solidFill>
              <a:srgbClr val="1A936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0" y="2907792"/>
            <a:ext cx="685800" cy="685800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63931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I – Integrity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968496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Tính toàn vẹn: Dữ liệu không bị sửa đổi trái phép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83464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0F4FF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86600" y="2907792"/>
            <a:ext cx="685800" cy="6858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63931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A – Availability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968496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Tính sẵn sàng: Hệ thống luôn phục vụ người dùng hợp lệ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1A3D"/>
          </a:solidFill>
          <a:ln w="12700">
            <a:solidFill>
              <a:srgbClr val="141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CẤU TRÚC TỔNG QUÁT THUẬT TOÁN 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141A3D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50976"/>
            <a:ext cx="1965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64-bit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65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Khối dữ liệu</a:t>
            </a: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423160" y="932688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141A3D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950976"/>
            <a:ext cx="1965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56-bit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371600"/>
            <a:ext cx="1965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Khóa hiệu dụng</a:t>
            </a: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932688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141A3D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50976"/>
            <a:ext cx="1965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371600"/>
            <a:ext cx="1965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Vòng Feistel</a:t>
            </a: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20840" y="932688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141A3D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950976"/>
            <a:ext cx="1965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48-bit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371600"/>
            <a:ext cx="1965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Khóa mỗi vòng</a:t>
            </a: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4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029968"/>
            <a:ext cx="448056" cy="4480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029968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1956816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Hoán vị ban đầu (IP)</a:t>
            </a:r>
            <a:endParaRPr lang="en-US" sz="1300" b="1" dirty="0">
              <a:solidFill>
                <a:srgbClr val="1E276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6112" y="2212848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Tái sắp xếp 64 bit theo bảng cố định → chia L₀ (32-bit) và R₀ (32-bit)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679192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4FF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788920"/>
            <a:ext cx="448056" cy="4480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88920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271576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16 Vòng Feistel</a:t>
            </a:r>
            <a:endParaRPr lang="en-US" sz="1300" b="1" dirty="0">
              <a:solidFill>
                <a:srgbClr val="1E276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6112" y="2971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Lₙ=Rₙ₋₁  |  Rₙ=Lₙ₋₁⊕F(Rₙ₋₁,Kₙ). Mỗi vòng dùng khóa con 48-bit khác nhau.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3438144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4FF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547872"/>
            <a:ext cx="448056" cy="44805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547872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347472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Hoán đổi hai nửa</a:t>
            </a:r>
            <a:endParaRPr lang="en-US" sz="1300" b="1" dirty="0">
              <a:solidFill>
                <a:srgbClr val="1E276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96112" y="3730752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Sau vòng 16: (L₁₆,R₁₆) → (R₁₆,L₁₆). Đặc điểm quan trọng của Feistel.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4197096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4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4306824"/>
            <a:ext cx="448056" cy="4480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306824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112" y="423367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4. Hoán vị cuối (IP⁻¹)</a:t>
            </a:r>
            <a:endParaRPr lang="en-US" sz="1300" b="1" dirty="0">
              <a:solidFill>
                <a:srgbClr val="1E276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6112" y="4489704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Áp dụng nghịch đảo của IP → tạo bản mã (Ciphertext) 64-bit hoàn chỉnh.</a:t>
            </a:r>
            <a:endParaRPr lang="en-US" sz="12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5A"/>
          </a:solidFill>
          <a:ln w="12700">
            <a:solidFill>
              <a:srgbClr val="0D1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4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HÀM F – FEISTEL FUNCTION (TRÁI TIM CỦA DES)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694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F(Rₙ₋₁, Kₙ) = P( S( E(Rₙ₋₁) ⊕ Kₙ ) 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27632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2655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27632"/>
            <a:ext cx="20116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27632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D"/>
                </a:solidFill>
              </a:rPr>
              <a:t>E – Mở rộng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12848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32-bit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0E0EF"/>
                </a:solidFill>
              </a:rPr>
              <a:t>→ 48-bit</a:t>
            </a:r>
            <a:endParaRPr lang="en-US" sz="1350" i="1" dirty="0">
              <a:solidFill>
                <a:srgbClr val="90E0E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182880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Lặp lại 16 bit để đồng kích thước với khóa con. Tăng khuếch tán dữ liệu.</a:t>
            </a:r>
            <a:endParaRPr lang="en-US" sz="1300" dirty="0">
              <a:solidFill>
                <a:srgbClr val="CADCFC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50592" y="1627632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2655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50592" y="1627632"/>
            <a:ext cx="201168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1627632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6459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D"/>
                </a:solidFill>
              </a:rPr>
              <a:t>⊕ XOR Khóa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24912" y="2212848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2212848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48-bit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24912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0E0EF"/>
                </a:solidFill>
              </a:rPr>
              <a:t>⊕ 48-bit</a:t>
            </a:r>
            <a:endParaRPr lang="en-US" sz="1350" i="1" dirty="0">
              <a:solidFill>
                <a:srgbClr val="90E0E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42032" y="2999232"/>
            <a:ext cx="182880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Kết hợp với khóa con Kₙ. Đảm bảo kết quả phụ thuộc hoàn toàn vào khóa.</a:t>
            </a:r>
            <a:endParaRPr lang="en-US" sz="1300" dirty="0">
              <a:solidFill>
                <a:srgbClr val="CADCFC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26864" y="1627632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2655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627632"/>
            <a:ext cx="2011680" cy="502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627632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16459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D"/>
                </a:solidFill>
              </a:rPr>
              <a:t>S-Box ×8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01184" y="2212848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9B5DE5">
              <a:alpha val="4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212848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48-bit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01184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0E0EF"/>
                </a:solidFill>
              </a:rPr>
              <a:t>→ 32-bit</a:t>
            </a:r>
            <a:endParaRPr lang="en-US" sz="1350" i="1" dirty="0">
              <a:solidFill>
                <a:srgbClr val="90E0E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18304" y="2999232"/>
            <a:ext cx="182880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8 hộp thay thế phi tuyến. 2 bit ngoài→hàng, 4 bit giữa→cột. Tạo confusion.</a:t>
            </a:r>
            <a:endParaRPr lang="en-US" sz="1300" dirty="0">
              <a:solidFill>
                <a:srgbClr val="CADCFC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03136" y="1627632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1A2655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03136" y="1627632"/>
            <a:ext cx="2011680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1627632"/>
            <a:ext cx="2011680" cy="256032"/>
          </a:xfrm>
          <a:prstGeom prst="roundRect">
            <a:avLst>
              <a:gd name="adj" fmla="val 35714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8856" y="164592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D"/>
                </a:solidFill>
              </a:rPr>
              <a:t>P – Hoán vị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77456" y="2212848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77456" y="2212848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32-bit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77456" y="2633472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0E0EF"/>
                </a:solidFill>
              </a:rPr>
              <a:t>→ 32-bit</a:t>
            </a:r>
            <a:endParaRPr lang="en-US" sz="1350" i="1" dirty="0">
              <a:solidFill>
                <a:srgbClr val="90E0E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94576" y="2999232"/>
            <a:ext cx="1828800" cy="1691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Phân tán ảnh hưởng mỗi bit ra toàn khối. Tạo hiệu ứng thác đổ (avalanche).</a:t>
            </a:r>
            <a:endParaRPr lang="en-US" sz="1300" dirty="0">
              <a:solidFill>
                <a:srgbClr val="CADCF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CƠ CHẾ SINH KHÓA CON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32588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1024128"/>
            <a:ext cx="125272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Khóa chính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64-bit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" y="1508760"/>
            <a:ext cx="12161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8 bit parity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cần loại bỏ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169164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572768"/>
            <a:ext cx="137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91640" y="100584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005840"/>
            <a:ext cx="13258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100584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28216" y="1024128"/>
            <a:ext cx="125272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PC-1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→ 56-bit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46504" y="1508760"/>
            <a:ext cx="12161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Loại 8 bit parity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Hoán vị còn lại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169164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572768"/>
            <a:ext cx="137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54680" y="100584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005840"/>
            <a:ext cx="132588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00584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91256" y="1024128"/>
            <a:ext cx="125272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C₀ | D₀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28-bit each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9544" y="1508760"/>
            <a:ext cx="12161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Chia đôi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khóa 56-bit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169164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572768"/>
            <a:ext cx="137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17720" y="100584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005840"/>
            <a:ext cx="1325880" cy="4572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00584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1024128"/>
            <a:ext cx="125272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Dịch trái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(LS × 16)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72584" y="1508760"/>
            <a:ext cx="12161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Vòng 1,2,9,16: dịch 1 bit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Các vòng khác: dịch 2 bit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169164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1572768"/>
            <a:ext cx="137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80760" y="100584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005840"/>
            <a:ext cx="132588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100584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7336" y="1024128"/>
            <a:ext cx="125272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PC-2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→ 48-bit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41974" y="1515110"/>
            <a:ext cx="12161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Chọn &amp; hoán vị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→ Khóa con Kₙ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06640" y="169164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1572768"/>
            <a:ext cx="137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43800" y="100584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43800" y="1005840"/>
            <a:ext cx="13258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43800" y="100584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0376" y="1024128"/>
            <a:ext cx="1252728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16 Khóa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1A3D"/>
                </a:solidFill>
              </a:rPr>
              <a:t>K₁–K₁₆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05014" y="1515110"/>
            <a:ext cx="1216152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Mỗi khóa 48-bit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1 khóa / 1 vòng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2606040"/>
            <a:ext cx="8503920" cy="1051560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Giải mã: </a:t>
            </a:r>
            <a:r>
              <a:rPr lang="en-US" sz="1200" dirty="0">
                <a:solidFill>
                  <a:srgbClr val="1E2761"/>
                </a:solidFill>
              </a:rPr>
              <a:t>Sử dụng đúng 16 khóa con nhưng theo thứ tự ĐẢO NGƯỢC: K₁₆ → K₁₅ → ... → K₁
</a:t>
            </a:r>
            <a:r>
              <a:rPr lang="en-US" sz="1200" i="1" dirty="0">
                <a:solidFill>
                  <a:srgbClr val="64748B"/>
                </a:solidFill>
              </a:rPr>
              <a:t>Nhờ tính đối xứng của Feistel, không cần xây dựng thuật toán giải mã riêng biệt!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" y="37947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Lịch dịch bit theo từng vòng: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/>
        </p:nvGraphicFramePr>
        <p:xfrm>
          <a:off x="274320" y="4160520"/>
          <a:ext cx="8503927" cy="594360"/>
        </p:xfrm>
        <a:graphic>
          <a:graphicData uri="http://schemas.openxmlformats.org/drawingml/2006/table">
            <a:tbl>
              <a:tblPr/>
              <a:tblGrid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  <a:gridCol w="500231"/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Vòng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Dịch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PHÂN TÍCH BÀI TOÁN &amp; THIẾT KẾ CHƯƠNG TRÌNH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39319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YÊU CẦU </a:t>
            </a:r>
            <a:r>
              <a:rPr lang="en-US" sz="1400" b="1" dirty="0">
                <a:solidFill>
                  <a:srgbClr val="FFFFFF"/>
                </a:solidFill>
              </a:rPr>
              <a:t>HỆ THỐNG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✓ </a:t>
            </a:r>
            <a:r>
              <a:rPr lang="en-US" sz="1200" dirty="0">
                <a:solidFill>
                  <a:srgbClr val="1E2761"/>
                </a:solidFill>
              </a:rPr>
              <a:t>Cài đặt Single DES chuẩn (khối 64-bit, khóa 56-bit)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✓ </a:t>
            </a:r>
            <a:r>
              <a:rPr lang="en-US" sz="1200" dirty="0">
                <a:solidFill>
                  <a:srgbClr val="1E2761"/>
                </a:solidFill>
              </a:rPr>
              <a:t>Hỗ trợ 2 chế độ: ECB và CBC (với IV ngẫu nhiên)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✓ </a:t>
            </a:r>
            <a:r>
              <a:rPr lang="en-US" sz="1200" dirty="0">
                <a:solidFill>
                  <a:srgbClr val="1E2761"/>
                </a:solidFill>
              </a:rPr>
              <a:t>Xử lý văn bản và tệp tin nhị phân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✓ </a:t>
            </a:r>
            <a:r>
              <a:rPr lang="en-US" sz="1200" dirty="0">
                <a:solidFill>
                  <a:srgbClr val="1E2761"/>
                </a:solidFill>
              </a:rPr>
              <a:t>Đệm dữ liệu chuẩn PKCS#5/PKCS#7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✓ </a:t>
            </a:r>
            <a:r>
              <a:rPr lang="en-US" sz="1200" dirty="0">
                <a:solidFill>
                  <a:srgbClr val="1E2761"/>
                </a:solidFill>
              </a:rPr>
              <a:t>Giao diện đồ họa trực quan (GUI)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✓ </a:t>
            </a:r>
            <a:r>
              <a:rPr lang="en-US" sz="1200" dirty="0">
                <a:solidFill>
                  <a:srgbClr val="1E2761"/>
                </a:solidFill>
              </a:rPr>
              <a:t>Hiển thị bản mã dạng Hex/Base64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✓ </a:t>
            </a:r>
            <a:r>
              <a:rPr lang="en-US" sz="1200" dirty="0">
                <a:solidFill>
                  <a:srgbClr val="1E2761"/>
                </a:solidFill>
              </a:rPr>
              <a:t>Cơ chế bắt lỗi: sai khóa, dữ liệu trống…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EEF2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960120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78408"/>
            <a:ext cx="39319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</a:rPr>
              <a:t>CƠ CHẾ ĐỆM PKCS#7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 = 8 − (L mod 8)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201168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(P luôn ∈ [1, 8], nếu L chia hết cho 8 → vẫn đệm thêm 8 byte)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4871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Ví dụ: còn thiếu 3 byte → đệm thêm: 03 03 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944368"/>
            <a:ext cx="384048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233C"/>
                </a:solidFill>
              </a:rPr>
              <a:t>Phát hiện sai khóa:</a:t>
            </a:r>
            <a:r>
              <a:rPr lang="en-US" sz="1200" dirty="0">
                <a:solidFill>
                  <a:srgbClr val="1E2761"/>
                </a:solidFill>
              </a:rPr>
              <a:t> Khi giải mã sai khóa → bytes cuối không tuân thủ PKCS → hệ </a:t>
            </a:r>
            <a:r>
              <a:rPr lang="en-US" sz="1200" dirty="0">
                <a:solidFill>
                  <a:srgbClr val="1E2761"/>
                </a:solidFill>
              </a:rPr>
              <a:t>thống bắt lỗi ngay lập tức và cảnh báo người dùng.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133088"/>
            <a:ext cx="384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CÀI ĐẶT THUẬT TOÁN BẰNG C# 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10512"/>
          </a:xfrm>
          <a:prstGeom prst="roundRect">
            <a:avLst>
              <a:gd name="adj" fmla="val 5051"/>
            </a:avLst>
          </a:prstGeom>
          <a:solidFill>
            <a:srgbClr val="F0F4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DES.cs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41A3D">
              <a:alpha val="80000"/>
            </a:srgbClr>
          </a:solidFill>
          <a:ln w="12700">
            <a:solidFill>
              <a:srgbClr val="141A3D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51560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CORE ALGORITHM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527048"/>
            <a:ext cx="3895344" cy="11155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Sinh khóa con, Hoán vị IP/FP/PC-1/PC-2, Hàm F, 8 S-Boxes. Toàn bộ logic toán học DES.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953512"/>
            <a:ext cx="4114800" cy="1810512"/>
          </a:xfrm>
          <a:prstGeom prst="roundRect">
            <a:avLst>
              <a:gd name="adj" fmla="val 5051"/>
            </a:avLst>
          </a:prstGeom>
          <a:solidFill>
            <a:srgbClr val="F0F4FF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53512"/>
            <a:ext cx="4114800" cy="4937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53512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80944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MainWindow.xaml.cs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304495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41A3D">
              <a:alpha val="80000"/>
            </a:srgbClr>
          </a:solidFill>
          <a:ln w="12700">
            <a:solidFill>
              <a:srgbClr val="141A3D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044952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EVENT HANDLER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3520440"/>
            <a:ext cx="3895344" cy="11155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Tiếp nhận thao tác UI, gọi DES.cs xử lý, trả kết quả hiển thị. Không chứa logic mã hóa.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1810512"/>
          </a:xfrm>
          <a:prstGeom prst="roundRect">
            <a:avLst>
              <a:gd name="adj" fmla="val 5051"/>
            </a:avLst>
          </a:prstGeom>
          <a:solidFill>
            <a:srgbClr val="F0F4FF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60120"/>
            <a:ext cx="4114800" cy="4937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60120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8755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Auxx.cs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10515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41A3D">
              <a:alpha val="80000"/>
            </a:srgbClr>
          </a:solidFill>
          <a:ln w="12700">
            <a:solidFill>
              <a:srgbClr val="141A3D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051560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HELPER UTILS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64608" y="1527048"/>
            <a:ext cx="3895344" cy="11155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StringToByteArray, BytesToHex, chuỗi nhị phân. Chuyển đổi dữ liệu đầu vào/ra.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2953512"/>
            <a:ext cx="4114800" cy="1810512"/>
          </a:xfrm>
          <a:prstGeom prst="roundRect">
            <a:avLst>
              <a:gd name="adj" fmla="val 5051"/>
            </a:avLst>
          </a:prstGeom>
          <a:solidFill>
            <a:srgbClr val="F0F4FF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53512"/>
            <a:ext cx="4114800" cy="493776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53512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980944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MainWindow.xaml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80960" y="304495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41A3D">
              <a:alpha val="80000"/>
            </a:srgbClr>
          </a:solidFill>
          <a:ln w="12700">
            <a:solidFill>
              <a:srgbClr val="141A3D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044952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UI / DESIGN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64608" y="3520440"/>
            <a:ext cx="3895344" cy="11155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XAML: TextBox, Button, TabControl. Tách biệt hoàn toàn Design ↔ Code-behind.</a:t>
            </a:r>
            <a:endParaRPr lang="en-US" sz="12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CÀI ĐẶT THUẬT TOÁN BẰNG JAVA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03920" cy="290000"/>
          </a:xfrm>
          <a:prstGeom prst="roundRect">
            <a:avLst>
              <a:gd name="adj" fmla="val 19444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1552"/>
            <a:ext cx="8321040" cy="2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Algorithm Layer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87552"/>
            <a:ext cx="8458200" cy="390000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1552"/>
            <a:ext cx="237744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DesTables.java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301552"/>
            <a:ext cx="576072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Lưu toàn bộ bảng DES: IP, FP, E, P, PC1, PC2, KEY_SHIFTS, 8 S-Boxes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697552"/>
            <a:ext cx="8458200" cy="390000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1552"/>
            <a:ext cx="237744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BitUtils.java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711552"/>
            <a:ext cx="576072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Thao tác bit mức thấp: permute(), leftRotate28(), ép kiểu long/int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107552"/>
            <a:ext cx="8458200" cy="390000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552"/>
            <a:ext cx="237744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DesAlgorithm.java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121552"/>
            <a:ext cx="576072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Lõi Feistel 16 vòng mã hóa/giải mã, phân tách khối 8-byte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517552"/>
            <a:ext cx="8458200" cy="390000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31552"/>
            <a:ext cx="237744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DesKeyGenerator.java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531552"/>
            <a:ext cx="576072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Sinh khóa ngẫu nhiên (SecureRandom) + Key Schedule 16 khóa con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2967552"/>
            <a:ext cx="8503920" cy="290000"/>
          </a:xfrm>
          <a:prstGeom prst="roundRect">
            <a:avLst>
              <a:gd name="adj" fmla="val 19444"/>
            </a:avLst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81552"/>
            <a:ext cx="8321040" cy="2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&amp; Utilities Layer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267552"/>
            <a:ext cx="8458200" cy="390000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1552"/>
            <a:ext cx="237744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C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PaddingUtils.java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281552"/>
            <a:ext cx="576072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PKCS#5: addPadding() – removePkcs5Padding() – phát hiện sai khóa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677552"/>
            <a:ext cx="8458200" cy="390000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91552"/>
            <a:ext cx="237744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C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EncodingUtils.java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691552"/>
            <a:ext cx="576072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Chuyển đổi: byte[] ↔ UTF-8 ↔ Hex ↔ Base64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4127552"/>
            <a:ext cx="8503920" cy="290000"/>
          </a:xfrm>
          <a:prstGeom prst="roundRect">
            <a:avLst>
              <a:gd name="adj" fmla="val 19444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41552"/>
            <a:ext cx="8321040" cy="2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 Layer (Facade)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4427552"/>
            <a:ext cx="8458200" cy="390000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41552"/>
            <a:ext cx="237744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8E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DesService.java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4441552"/>
            <a:ext cx="5760720" cy="36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API đơn giản: mã hóa/giải mã TEXT/HEX/BASE64. Tích hợp describeKey() – log từng vòng Feistel</a:t>
            </a:r>
            <a:endParaRPr lang="en-US" sz="12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KỊCH BẢN KIỂM THỬ VÀ KẾT QUẢ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274320" y="960120"/>
          <a:ext cx="8503920" cy="164592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2011680"/>
                <a:gridCol w="1645920"/>
                <a:gridCol w="2011680"/>
                <a:gridCol w="54864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Mã TC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Chế độ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Khóa (Hex)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Dữ liệu đầu vào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Kết quả kỳ vọng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Kết quả</a:t>
                      </a:r>
                      <a:endParaRPr lang="en-US"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TC-01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Single DES ECB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133457799BBCDFF1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HUST 2026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j6fNfXpYqlo=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C"/>
                          </a:solidFill>
                        </a:rPr>
                        <a:t>✅ Đạt</a:t>
                      </a:r>
                      <a:endParaRPr lang="en-US" sz="1200" dirty="0">
                        <a:solidFill>
                          <a:srgbClr val="1A7F3C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TC-02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Single DES CBC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133457799BBCDFF1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ATBMTT – Nhom 5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P7U6yL8kX/fN5qNlM1R2fA==</a:t>
                      </a:r>
                      <a:endParaRPr lang="en-US" sz="115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C"/>
                          </a:solidFill>
                        </a:rPr>
                        <a:t>✅ Đạt</a:t>
                      </a:r>
                      <a:endParaRPr lang="en-US" sz="1200" dirty="0">
                        <a:solidFill>
                          <a:srgbClr val="1A7F3C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TC-03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DES CBC (sai khóa)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133457799BBCDFF0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Bản mã TC-02</a:t>
                      </a:r>
                      <a:endParaRPr lang="en-US" sz="120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Hệ thống chặn + cảnh báo lỗi đệm</a:t>
                      </a:r>
                      <a:endParaRPr lang="en-US" sz="1150" dirty="0">
                        <a:solidFill>
                          <a:srgbClr val="1E276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C"/>
                          </a:solidFill>
                        </a:rPr>
                        <a:t>✅ Đạt</a:t>
                      </a:r>
                      <a:endParaRPr lang="en-US" sz="1200" dirty="0">
                        <a:solidFill>
                          <a:srgbClr val="1A7F3C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278892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Điểm nổi bật được kiểm </a:t>
            </a:r>
            <a:r>
              <a:rPr lang="en-US" sz="1400" b="1" dirty="0">
                <a:solidFill>
                  <a:srgbClr val="1E2761"/>
                </a:solidFill>
              </a:rPr>
              <a:t>chứng</a:t>
            </a:r>
            <a:r>
              <a:rPr lang="en-US" sz="1300" b="1" dirty="0">
                <a:solidFill>
                  <a:srgbClr val="1E2761"/>
                </a:solidFill>
              </a:rPr>
              <a:t>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3200400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0F4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200400"/>
            <a:ext cx="269748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3200400"/>
            <a:ext cx="2697480" cy="22860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3218688"/>
            <a:ext cx="2551176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Tính đúng đắn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675888"/>
            <a:ext cx="251460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Kết quả C# và Java khớp với nhau và với vector chuẩn NIST – đảm bảo triển khai chính xác 100%.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154680" y="3200400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0F4FF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3200400"/>
            <a:ext cx="2697480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3200400"/>
            <a:ext cx="2697480" cy="228600"/>
          </a:xfrm>
          <a:prstGeom prst="roundRect">
            <a:avLst>
              <a:gd name="adj" fmla="val 4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27832" y="3218688"/>
            <a:ext cx="2551176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Phát hiện sai khóa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46120" y="3675888"/>
            <a:ext cx="251460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TC-03 chứng minh cơ chế PKCS#7 padding check hoạt động hiệu quả như một lớp xác thực khóa tự động.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4" name="Shape 13"/>
          <p:cNvSpPr/>
          <p:nvPr/>
        </p:nvSpPr>
        <p:spPr>
          <a:xfrm>
            <a:off x="6035040" y="3200400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0F4FF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200400"/>
            <a:ext cx="2697480" cy="42062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200400"/>
            <a:ext cx="2697480" cy="228600"/>
          </a:xfrm>
          <a:prstGeom prst="roundRect">
            <a:avLst>
              <a:gd name="adj" fmla="val 40000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08192" y="3218688"/>
            <a:ext cx="2551176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Tương thích đa nền tảng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26480" y="3675888"/>
            <a:ext cx="251460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Bản mã tạo từ Java có thể giải mã thành công bằng C# và ngược lại – nhờ đồng nhất UTF-8 + PKCS#7.</a:t>
            </a:r>
            <a:endParaRPr lang="en-US" sz="12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 SÁNH TRIỂN KHAI C# vs JAVA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274320" y="960120"/>
          <a:ext cx="8503920" cy="3900000"/>
        </p:xfrm>
        <a:graphic>
          <a:graphicData uri="http://schemas.openxmlformats.org/drawingml/2006/table">
            <a:tbl>
              <a:tblPr/>
              <a:tblGrid>
                <a:gridCol w="2560320"/>
                <a:gridCol w="2971800"/>
                <a:gridCol w="2971800"/>
              </a:tblGrid>
              <a:tr h="7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Tiêu chí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C# (.NET/WPF)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Java (OOP)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Kiến trúc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2 file chính + Helper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7+ class phân tầng rõ ràng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Kiểu byte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byte không dấu (0-255)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byte có dấu → cần &amp; 0xFF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CSPRNG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RandomNumberGenerator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java.security.SecureRandom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Xử lý padding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PKCS#7 built-in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</a:rPr>
                        <a:t>PaddingUtils.java thủ công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KẾT LUẬN &amp; ĐỊNH HƯỚNG PHÁT TRIỂN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86200"/>
          </a:xfrm>
          <a:prstGeom prst="roundRect">
            <a:avLst>
              <a:gd name="adj" fmla="val 2353"/>
            </a:avLst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256032"/>
          </a:xfrm>
          <a:prstGeom prst="roundRect">
            <a:avLst>
              <a:gd name="adj" fmla="val 3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3840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NHỮNG GÌ ĐÃ ĐẠT ĐƯỢC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49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✓ </a:t>
            </a:r>
            <a:r>
              <a:rPr lang="en-US" sz="1250" dirty="0">
                <a:solidFill>
                  <a:srgbClr val="1E2761"/>
                </a:solidFill>
              </a:rPr>
              <a:t>Cài đặt Single DES chuẩn 100% từ đầu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749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✓ </a:t>
            </a:r>
            <a:r>
              <a:rPr lang="en-US" sz="1250" dirty="0">
                <a:solidFill>
                  <a:srgbClr val="1E2761"/>
                </a:solidFill>
              </a:rPr>
              <a:t>Hai ngôn ngữ C# và Java hoàn chỉnh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3749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✓ </a:t>
            </a:r>
            <a:r>
              <a:rPr lang="en-US" sz="1250" dirty="0">
                <a:solidFill>
                  <a:srgbClr val="1E2761"/>
                </a:solidFill>
              </a:rPr>
              <a:t>GUI trực quan với đầy đủ cơ chế bắt lỗi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3749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✓ </a:t>
            </a:r>
            <a:r>
              <a:rPr lang="en-US" sz="1250" dirty="0">
                <a:solidFill>
                  <a:srgbClr val="1E2761"/>
                </a:solidFill>
              </a:rPr>
              <a:t>Hỗ trợ mã hóa văn bản và tệp tin nhị phân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749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✓ </a:t>
            </a:r>
            <a:r>
              <a:rPr lang="en-US" sz="1250" dirty="0">
                <a:solidFill>
                  <a:srgbClr val="1E2761"/>
                </a:solidFill>
              </a:rPr>
              <a:t>Chế độ ECB và CBC với IV ngẫu nhiên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3749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✓ </a:t>
            </a:r>
            <a:r>
              <a:rPr lang="en-US" sz="1250" dirty="0">
                <a:solidFill>
                  <a:srgbClr val="1E2761"/>
                </a:solidFill>
              </a:rPr>
              <a:t>Kiểm thử khớp vector chuẩn NIST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3749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</a:rPr>
              <a:t>✓ </a:t>
            </a:r>
            <a:r>
              <a:rPr lang="en-US" sz="1250" dirty="0">
                <a:solidFill>
                  <a:srgbClr val="1E2761"/>
                </a:solidFill>
              </a:rPr>
              <a:t>Tương thích chéo C# ↔ Java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023360" cy="3886200"/>
          </a:xfrm>
          <a:prstGeom prst="roundRect">
            <a:avLst>
              <a:gd name="adj" fmla="val 2353"/>
            </a:avLst>
          </a:prstGeom>
          <a:solidFill>
            <a:srgbClr val="EEF9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960120"/>
            <a:ext cx="4023360" cy="256032"/>
          </a:xfrm>
          <a:prstGeom prst="roundRect">
            <a:avLst>
              <a:gd name="adj" fmla="val 3571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78408"/>
            <a:ext cx="38404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D"/>
                </a:solidFill>
              </a:rPr>
              <a:t>🚀 ĐỊNH HƯỚNG TIẾP THEO</a:t>
            </a:r>
            <a:endParaRPr lang="en-US" sz="1400" b="1" dirty="0">
              <a:solidFill>
                <a:srgbClr val="141A3D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1508760"/>
            <a:ext cx="38404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16642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6642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1545336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Triple DES (3DES)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0" y="1819656"/>
            <a:ext cx="310896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Tăng khóa lên 112/168-bit: Mã hóa–Giải mã–Mã hóa với K1, K2, K3 độc lập.</a:t>
            </a:r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2386584"/>
            <a:ext cx="38404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2542032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542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242316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Chuyển dịch sang AES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0" y="2697480"/>
            <a:ext cx="310896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AES 128/192/256-bit: chuẩn hiện đại thay thế DES, mạng SPN thay vì Feistel.</a:t>
            </a:r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3264408"/>
            <a:ext cx="38404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3419856"/>
            <a:ext cx="457200" cy="45720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419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300984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Thêm chế độ CFB/CTR/OFB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0" y="3575304"/>
            <a:ext cx="310896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Chống tấn công phân tích tần suất tốt hơn ECB; phù hợp dữ liệu streaming.</a:t>
            </a:r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0" y="4142232"/>
            <a:ext cx="38404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9472" y="429768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0" y="4178808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Tích hợp RSA/DH trao đổi khóa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0" y="4453128"/>
            <a:ext cx="310896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Giải quyết bài toán phân phối khóa, xây dựng hệ thống Hybrid Encryption thực tế.</a:t>
            </a:r>
            <a:endParaRPr lang="en-US" sz="11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CẢM ƠN THẦY VÀ CÁC BẠN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ĐÃ LẮNG NGHE!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7315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425696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5920</Words>
  <Application>WPS Presentation</Application>
  <PresentationFormat>On-screen Show (16:9)</PresentationFormat>
  <Paragraphs>514</Paragraphs>
  <Slides>13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Chuẩn DES và Ứng dụng trong Mã hóa Dữ liệu</dc:title>
  <dc:creator>PptxGenJS</dc:creator>
  <dc:subject>PptxGenJS Presentation</dc:subject>
  <cp:lastModifiedBy>Trinh Trần</cp:lastModifiedBy>
  <cp:revision>17</cp:revision>
  <dcterms:created xsi:type="dcterms:W3CDTF">2026-06-11T00:58:00Z</dcterms:created>
  <dcterms:modified xsi:type="dcterms:W3CDTF">2026-06-11T02:52:43Z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13409836E42B48DFAD9B53B4AEDA7617_12</vt:lpwstr>
  </property>
</Properties>
</file>